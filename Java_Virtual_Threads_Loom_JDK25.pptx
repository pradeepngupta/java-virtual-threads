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69" r:id="rId4"/>
    <p:sldId id="270" r:id="rId5"/>
    <p:sldId id="271" r:id="rId6"/>
    <p:sldId id="272" r:id="rId7"/>
    <p:sldId id="262" r:id="rId8"/>
    <p:sldId id="263" r:id="rId9"/>
    <p:sldId id="273" r:id="rId10"/>
    <p:sldId id="265" r:id="rId11"/>
    <p:sldId id="274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633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5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4.png"/><Relationship Id="rId5" Type="http://schemas.openxmlformats.org/officeDocument/2006/relationships/image" Target="../media/image20.png"/><Relationship Id="rId15" Type="http://schemas.openxmlformats.org/officeDocument/2006/relationships/image" Target="../media/image33.png"/><Relationship Id="rId10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29.png"/><Relationship Id="rId1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5029200" cy="50292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840480" cy="3840480"/>
          </a:xfrm>
          <a:prstGeom prst="ellipse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009E83">
              <a:alpha val="10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777240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475488"/>
            <a:ext cx="2011680" cy="310896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89888" y="47548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LOOM · JDK 25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Virtual Threads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— Architecture, Internals &amp; Adoption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02920" y="2944368"/>
            <a:ext cx="813816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090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Pradeep Gupta· Java Community Lead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Ignite Java Exchange (BIGJEX)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30906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 |  1-hour Session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4434840"/>
            <a:ext cx="1143000" cy="708660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434840"/>
            <a:ext cx="1143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143000" y="4434840"/>
            <a:ext cx="1143000" cy="708660"/>
          </a:xfrm>
          <a:prstGeom prst="rect">
            <a:avLst/>
          </a:prstGeom>
          <a:solidFill>
            <a:srgbClr val="1A2E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4434840"/>
            <a:ext cx="1143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0" y="4434840"/>
            <a:ext cx="1143000" cy="708660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0" y="4434840"/>
            <a:ext cx="1143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429000" y="4434840"/>
            <a:ext cx="1143000" cy="708660"/>
          </a:xfrm>
          <a:prstGeom prst="rect">
            <a:avLst/>
          </a:prstGeom>
          <a:solidFill>
            <a:srgbClr val="1A2E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29000" y="4434840"/>
            <a:ext cx="1143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4434840"/>
            <a:ext cx="1143000" cy="708660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4434840"/>
            <a:ext cx="1143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15000" y="4434840"/>
            <a:ext cx="1143000" cy="708660"/>
          </a:xfrm>
          <a:prstGeom prst="rect">
            <a:avLst/>
          </a:prstGeom>
          <a:solidFill>
            <a:srgbClr val="1A2E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5000" y="4434840"/>
            <a:ext cx="1143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858000" y="4434840"/>
            <a:ext cx="1143000" cy="708660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4434840"/>
            <a:ext cx="1143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001000" y="4434840"/>
            <a:ext cx="1143000" cy="708660"/>
          </a:xfrm>
          <a:prstGeom prst="rect">
            <a:avLst/>
          </a:prstGeom>
          <a:solidFill>
            <a:srgbClr val="1A2E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01000" y="4434840"/>
            <a:ext cx="1143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the Speaker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009E8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24128"/>
            <a:ext cx="2423160" cy="37490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170432"/>
            <a:ext cx="1828800" cy="1828800"/>
          </a:xfrm>
          <a:prstGeom prst="ellipse">
            <a:avLst/>
          </a:prstGeom>
          <a:solidFill>
            <a:srgbClr val="1A2E45"/>
          </a:solidFill>
          <a:ln w="31750">
            <a:solidFill>
              <a:srgbClr val="00C9A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30723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Pradeep Gupta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447288"/>
            <a:ext cx="2057400" cy="237744"/>
          </a:xfrm>
          <a:prstGeom prst="rect">
            <a:avLst/>
          </a:prstGeom>
          <a:solidFill>
            <a:srgbClr val="00C9A7">
              <a:alpha val="20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34472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Leader · Java Practitioner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694944" cy="694944"/>
          </a:xfrm>
          <a:prstGeom prst="ellipse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3794760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416052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536192" y="382219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large-scale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systems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2944368" y="1024128"/>
            <a:ext cx="3547872" cy="475488"/>
          </a:xfrm>
          <a:prstGeom prst="rect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944368" y="1024128"/>
            <a:ext cx="64008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10972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47288" y="1088136"/>
            <a:ext cx="2980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since v1.4  →  Java 17/21  →  Java 25 &amp; beyond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944368" y="1572768"/>
            <a:ext cx="3547872" cy="1389888"/>
          </a:xfrm>
          <a:prstGeom prst="rect">
            <a:avLst/>
          </a:prstGeom>
          <a:solidFill>
            <a:srgbClr val="111E2E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944368" y="1572768"/>
            <a:ext cx="64008" cy="13898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090672" y="1636776"/>
            <a:ext cx="33467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leader with 20+ years designing, building, and operating large-scale software systems. Career spans multiple generations of enterprise software — from early application servers to cloud-native platforms, constrained environments, and AI-augmented systems.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035808" y="3054096"/>
            <a:ext cx="1078992" cy="256032"/>
          </a:xfrm>
          <a:prstGeom prst="rect">
            <a:avLst/>
          </a:prstGeom>
          <a:solidFill>
            <a:srgbClr val="243B5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035808" y="305409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JVM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178808" y="3054096"/>
            <a:ext cx="1078992" cy="256032"/>
          </a:xfrm>
          <a:prstGeom prst="rect">
            <a:avLst/>
          </a:prstGeom>
          <a:solidFill>
            <a:srgbClr val="243B5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78808" y="305409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5321808" y="3054096"/>
            <a:ext cx="1078992" cy="256032"/>
          </a:xfrm>
          <a:prstGeom prst="rect">
            <a:avLst/>
          </a:prstGeom>
          <a:solidFill>
            <a:srgbClr val="243B5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321808" y="305409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035808" y="3383280"/>
            <a:ext cx="1078992" cy="256032"/>
          </a:xfrm>
          <a:prstGeom prst="rect">
            <a:avLst/>
          </a:prstGeom>
          <a:solidFill>
            <a:srgbClr val="243B5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035808" y="33832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4187952" y="3389884"/>
            <a:ext cx="1078992" cy="256032"/>
          </a:xfrm>
          <a:prstGeom prst="rect">
            <a:avLst/>
          </a:prstGeom>
          <a:solidFill>
            <a:srgbClr val="243B5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178808" y="33832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Systems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3035808" y="3383280"/>
            <a:ext cx="1078992" cy="256032"/>
          </a:xfrm>
          <a:prstGeom prst="rect">
            <a:avLst/>
          </a:prstGeom>
          <a:solidFill>
            <a:srgbClr val="243B5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035808" y="338328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5321808" y="3391154"/>
            <a:ext cx="1078992" cy="256032"/>
          </a:xfrm>
          <a:prstGeom prst="rect">
            <a:avLst/>
          </a:prstGeom>
          <a:solidFill>
            <a:srgbClr val="243B5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321808" y="33832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 Systems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2944368" y="3749040"/>
            <a:ext cx="3547872" cy="548640"/>
          </a:xfrm>
          <a:prstGeom prst="rect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2944368" y="3749040"/>
            <a:ext cx="64008" cy="5486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3858768"/>
            <a:ext cx="274320" cy="27432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3419856" y="37856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3419856" y="3977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of a Career  (Amazon Kindle &amp; major platforms)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2944368" y="4370832"/>
            <a:ext cx="3547872" cy="438912"/>
          </a:xfrm>
          <a:prstGeom prst="rect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2944368" y="4370832"/>
            <a:ext cx="64008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1528" y="4471416"/>
            <a:ext cx="237744" cy="237744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3419856" y="44074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Newsletter: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3419856" y="45720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Stack (now) — LinkedIn &amp; Substack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6647688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 Online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6647688" y="1463040"/>
            <a:ext cx="2103120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6647688" y="1463040"/>
            <a:ext cx="64008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704" y="1563624"/>
            <a:ext cx="237744" cy="237744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7086600" y="149961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7086600" y="167335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linkedin.com/in/pradgupt</a:t>
            </a:r>
            <a:endParaRPr lang="en-US" sz="850" dirty="0"/>
          </a:p>
        </p:txBody>
      </p:sp>
      <p:sp>
        <p:nvSpPr>
          <p:cNvPr id="53" name="Shape 45"/>
          <p:cNvSpPr/>
          <p:nvPr/>
        </p:nvSpPr>
        <p:spPr>
          <a:xfrm>
            <a:off x="6647688" y="2011680"/>
            <a:ext cx="2103120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6647688" y="2011680"/>
            <a:ext cx="64008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704" y="2112264"/>
            <a:ext cx="237744" cy="237744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7086600" y="204825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850" dirty="0"/>
          </a:p>
        </p:txBody>
      </p:sp>
      <p:sp>
        <p:nvSpPr>
          <p:cNvPr id="57" name="Text 48"/>
          <p:cNvSpPr/>
          <p:nvPr/>
        </p:nvSpPr>
        <p:spPr>
          <a:xfrm>
            <a:off x="7086600" y="222199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@pradeepxgupta</a:t>
            </a:r>
            <a:endParaRPr lang="en-US" sz="850" dirty="0"/>
          </a:p>
        </p:txBody>
      </p:sp>
      <p:sp>
        <p:nvSpPr>
          <p:cNvPr id="58" name="Shape 49"/>
          <p:cNvSpPr/>
          <p:nvPr/>
        </p:nvSpPr>
        <p:spPr>
          <a:xfrm>
            <a:off x="6647688" y="2560320"/>
            <a:ext cx="2103120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9" name="Shape 50"/>
          <p:cNvSpPr/>
          <p:nvPr/>
        </p:nvSpPr>
        <p:spPr>
          <a:xfrm>
            <a:off x="6647688" y="2560320"/>
            <a:ext cx="64008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5704" y="2660904"/>
            <a:ext cx="237744" cy="237744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7086600" y="259689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50" dirty="0"/>
          </a:p>
        </p:txBody>
      </p:sp>
      <p:sp>
        <p:nvSpPr>
          <p:cNvPr id="62" name="Text 52"/>
          <p:cNvSpPr/>
          <p:nvPr/>
        </p:nvSpPr>
        <p:spPr>
          <a:xfrm>
            <a:off x="7086600" y="277063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github.com/pradeepngupta</a:t>
            </a:r>
            <a:endParaRPr lang="en-US" sz="850" dirty="0"/>
          </a:p>
        </p:txBody>
      </p:sp>
      <p:sp>
        <p:nvSpPr>
          <p:cNvPr id="63" name="Shape 53"/>
          <p:cNvSpPr/>
          <p:nvPr/>
        </p:nvSpPr>
        <p:spPr>
          <a:xfrm>
            <a:off x="6647688" y="3108960"/>
            <a:ext cx="2103120" cy="43891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4" name="Shape 54"/>
          <p:cNvSpPr/>
          <p:nvPr/>
        </p:nvSpPr>
        <p:spPr>
          <a:xfrm>
            <a:off x="6647688" y="3108960"/>
            <a:ext cx="64008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3209544"/>
            <a:ext cx="237744" cy="237744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7086600" y="31455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</a:t>
            </a:r>
            <a:endParaRPr lang="en-US" sz="850" dirty="0"/>
          </a:p>
        </p:txBody>
      </p:sp>
      <p:sp>
        <p:nvSpPr>
          <p:cNvPr id="67" name="Text 56"/>
          <p:cNvSpPr/>
          <p:nvPr/>
        </p:nvSpPr>
        <p:spPr>
          <a:xfrm>
            <a:off x="7086600" y="331927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beyondthestacknow.substack.com</a:t>
            </a:r>
            <a:endParaRPr lang="en-US" sz="850" dirty="0"/>
          </a:p>
        </p:txBody>
      </p:sp>
      <p:sp>
        <p:nvSpPr>
          <p:cNvPr id="68" name="Shape 57"/>
          <p:cNvSpPr/>
          <p:nvPr/>
        </p:nvSpPr>
        <p:spPr>
          <a:xfrm>
            <a:off x="6647688" y="3730752"/>
            <a:ext cx="2103120" cy="1078992"/>
          </a:xfrm>
          <a:prstGeom prst="rect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9" name="Shape 58"/>
          <p:cNvSpPr/>
          <p:nvPr/>
        </p:nvSpPr>
        <p:spPr>
          <a:xfrm>
            <a:off x="6647688" y="3730752"/>
            <a:ext cx="64008" cy="10789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0" name="Text 59"/>
          <p:cNvSpPr/>
          <p:nvPr/>
        </p:nvSpPr>
        <p:spPr>
          <a:xfrm>
            <a:off x="6793992" y="378561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about:</a:t>
            </a:r>
            <a:endParaRPr lang="en-US" sz="900" dirty="0"/>
          </a:p>
        </p:txBody>
      </p:sp>
      <p:sp>
        <p:nvSpPr>
          <p:cNvPr id="71" name="Text 60"/>
          <p:cNvSpPr/>
          <p:nvPr/>
        </p:nvSpPr>
        <p:spPr>
          <a:xfrm>
            <a:off x="6793992" y="40233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Software Architecture &amp; System Design</a:t>
            </a:r>
            <a:endParaRPr lang="en-US" sz="850" dirty="0"/>
          </a:p>
        </p:txBody>
      </p:sp>
      <p:sp>
        <p:nvSpPr>
          <p:cNvPr id="72" name="Text 61"/>
          <p:cNvSpPr/>
          <p:nvPr/>
        </p:nvSpPr>
        <p:spPr>
          <a:xfrm>
            <a:off x="6793992" y="42793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Scalability &amp; Java</a:t>
            </a:r>
            <a:endParaRPr lang="en-US" sz="850" dirty="0"/>
          </a:p>
        </p:txBody>
      </p:sp>
      <p:sp>
        <p:nvSpPr>
          <p:cNvPr id="73" name="Text 62"/>
          <p:cNvSpPr/>
          <p:nvPr/>
        </p:nvSpPr>
        <p:spPr>
          <a:xfrm>
            <a:off x="6793992" y="4535424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Long-term consequences of engineering decisions</a:t>
            </a:r>
            <a:endParaRPr lang="en-US" sz="850" dirty="0"/>
          </a:p>
        </p:txBody>
      </p:sp>
      <p:sp>
        <p:nvSpPr>
          <p:cNvPr id="75" name="Shape 64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6" name="Text 65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Virtual Threads — Project Loom &amp; JDK 25</a:t>
            </a:r>
            <a:endParaRPr lang="en-US" sz="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351EC6-972F-CD83-D97C-2460C8E91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7" y="1124713"/>
            <a:ext cx="1947671" cy="1947671"/>
          </a:xfrm>
          <a:prstGeom prst="ellipse">
            <a:avLst/>
          </a:prstGeom>
          <a:ln w="3175" cap="rnd">
            <a:solidFill>
              <a:srgbClr val="00C9A7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4984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Virtual Threads? The Scalability Crisis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274320" y="329184"/>
            <a:ext cx="64008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10424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Pradeep's Story: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2618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 IVR Campaign  20,000 phone numbers  JVM crashed  OS thread limit hit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33872" y="1060704"/>
            <a:ext cx="877824" cy="530352"/>
          </a:xfrm>
          <a:prstGeom prst="rect">
            <a:avLst/>
          </a:prstGeom>
          <a:solidFill>
            <a:srgbClr val="FFB627">
              <a:alpha val="80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33872" y="10607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33872" y="13075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hits wall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793992" y="1060704"/>
            <a:ext cx="877824" cy="530352"/>
          </a:xfrm>
          <a:prstGeom prst="rect">
            <a:avLst/>
          </a:prstGeom>
          <a:solidFill>
            <a:srgbClr val="009E83">
              <a:alpha val="80000"/>
            </a:srgbClr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93992" y="10607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93992" y="13075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Goroutines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754112" y="1060704"/>
            <a:ext cx="877824" cy="53035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10607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54112" y="13075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VT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11480" y="1773936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11480" y="1773936"/>
            <a:ext cx="272491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883664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14984" y="19202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Thread Cost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39496" y="2331720"/>
            <a:ext cx="25054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thread maps 1:1 to an OS thread. A typical OS thread consumes ~1 MB of stack. 10k concurrent requests = ~10 GB RAM just for stacks.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310128" y="1773936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310128" y="1773936"/>
            <a:ext cx="272491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1883664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913632" y="19202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I/O Tax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438144" y="2331720"/>
            <a:ext cx="25054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I/O waits (DB, network, file), the OS thread idles — wasting CPU cycles and blocking other requests from running.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208776" y="1773936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08776" y="1773936"/>
            <a:ext cx="272491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1883664"/>
            <a:ext cx="402336" cy="40233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12280" y="19202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Ceiling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336792" y="2331720"/>
            <a:ext cx="25054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plateau well before hardware limits. Adding more threads causes context-switch overhead and GC pressure, hurting latency.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65760" y="3822192"/>
            <a:ext cx="5669280" cy="978408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48640" y="3877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Loom's Answer: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48640" y="4133088"/>
            <a:ext cx="5376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application concurrency from OS threads. Run millions of virtual threads on a handful of OS threads — no code rewrite needed.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163056" y="3822192"/>
            <a:ext cx="2615184" cy="978408"/>
          </a:xfrm>
          <a:prstGeom prst="rect">
            <a:avLst/>
          </a:prstGeom>
          <a:solidFill>
            <a:srgbClr val="FFB627">
              <a:alpha val="12000"/>
            </a:srgbClr>
          </a:solidFill>
          <a:ln w="19050">
            <a:solidFill>
              <a:srgbClr val="FFB627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3895344"/>
            <a:ext cx="310896" cy="31089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638544" y="389534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272784" y="4187952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vs Virtual Threads throughput benchmark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5370" y="27406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Threads vs Virtual Threads — Side by Side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12700">
            <a:solidFill>
              <a:srgbClr val="009E8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697480" y="1024128"/>
            <a:ext cx="2880360" cy="38404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50992" y="1024128"/>
            <a:ext cx="3081528" cy="38404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97480" y="10241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Thread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50992" y="1024128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463040"/>
            <a:ext cx="8412480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630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697480" y="14630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kernel thread (1:1)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50992" y="1463040"/>
            <a:ext cx="308152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JVM-managed (M:N on carrier threads)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1883664"/>
            <a:ext cx="84124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8836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cost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697480" y="18836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MB stack, slow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50992" y="1883664"/>
            <a:ext cx="308152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~few KB heap, very fast (~microseconds)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2304288"/>
            <a:ext cx="8412480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3042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practical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697480" y="23042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~thousands (before thrashing)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50992" y="2304288"/>
            <a:ext cx="308152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simultaneously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2724912"/>
            <a:ext cx="84124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724912"/>
            <a:ext cx="221284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I/O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697480" y="2724912"/>
            <a:ext cx="288036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OS thread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50992" y="2724912"/>
            <a:ext cx="308152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Unmounts; carrier thread freed for others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3145536"/>
            <a:ext cx="8412480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145536"/>
            <a:ext cx="221284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3145536"/>
            <a:ext cx="288036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scheduler (preemptive)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650992" y="3145536"/>
            <a:ext cx="308152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ForkJoinPool (cooperative + preemptive)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760" y="3566160"/>
            <a:ext cx="84124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566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 risk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697480" y="3566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50992" y="3566160"/>
            <a:ext cx="308152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synchronized blocks, native methods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65760" y="3986784"/>
            <a:ext cx="8412480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3986784"/>
            <a:ext cx="221284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API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697480" y="3986784"/>
            <a:ext cx="288036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Thread() / ThreadPoolExecutor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650992" y="3986784"/>
            <a:ext cx="3081528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Thread.ofVirtual() / Executors.newVirtualThreadPerTaskExecutor()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65760" y="4462272"/>
            <a:ext cx="539496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2064" y="44622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 implement java.lang.Thread — same API. Zero framework changes required!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870448" y="4462272"/>
            <a:ext cx="2907792" cy="457200"/>
          </a:xfrm>
          <a:prstGeom prst="rect">
            <a:avLst/>
          </a:prstGeom>
          <a:solidFill>
            <a:srgbClr val="FFB627">
              <a:alpha val="12000"/>
            </a:srgbClr>
          </a:solidFill>
          <a:ln w="19050">
            <a:solidFill>
              <a:srgbClr val="FFB627"/>
            </a:solidFill>
            <a:prstDash val="solid"/>
          </a:ln>
        </p:spPr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4526280"/>
            <a:ext cx="274320" cy="27432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6291072" y="449884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whiteboard — OS thread blocking diagram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8992" y="3246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— Scheduler Architecture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274320" y="329184"/>
            <a:ext cx="64008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10424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Chosen: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2435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ForkJoinPool  (work-stealing)  —  deliberately reused, not reinvented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35040" y="1060704"/>
            <a:ext cx="1280160" cy="42062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0607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Java 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35040" y="12618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15+ yrs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406640" y="1060704"/>
            <a:ext cx="1371600" cy="420624"/>
          </a:xfrm>
          <a:prstGeom prst="rect">
            <a:avLst/>
          </a:prstGeom>
          <a:solidFill>
            <a:srgbClr val="FFB627">
              <a:alpha val="12000"/>
            </a:srgbClr>
          </a:solidFill>
          <a:ln w="19050">
            <a:solidFill>
              <a:srgbClr val="FFB62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113385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35824" y="109728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draw: Mount / Unmount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411480" y="1673352"/>
            <a:ext cx="2651760" cy="325881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1673352"/>
            <a:ext cx="26517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1783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76072" y="217627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6072" y="21762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1133856" y="217627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33856" y="21762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1691640" y="217627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691640" y="21762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2249424" y="217627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249424" y="21762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576072" y="254203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76072" y="25420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1133856" y="254203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3856" y="25420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1691640" y="254203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691640" y="25420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2249424" y="254203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249424" y="25420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34" name="Shape 30"/>
          <p:cNvSpPr/>
          <p:nvPr/>
        </p:nvSpPr>
        <p:spPr>
          <a:xfrm>
            <a:off x="576072" y="290779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76072" y="2907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1133856" y="290779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133856" y="2907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38" name="Shape 34"/>
          <p:cNvSpPr/>
          <p:nvPr/>
        </p:nvSpPr>
        <p:spPr>
          <a:xfrm>
            <a:off x="1691640" y="290779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691640" y="2907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40" name="Shape 36"/>
          <p:cNvSpPr/>
          <p:nvPr/>
        </p:nvSpPr>
        <p:spPr>
          <a:xfrm>
            <a:off x="2249424" y="2907792"/>
            <a:ext cx="502920" cy="292608"/>
          </a:xfrm>
          <a:prstGeom prst="rect">
            <a:avLst/>
          </a:prstGeom>
          <a:solidFill>
            <a:srgbClr val="00C9A7">
              <a:alpha val="3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249424" y="2907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502920" y="3291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...millions more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493776" y="422910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lightweight objects on the heap. Each has its own stack stored as a chunk object. Created and destroyed cheaply.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3383280" y="1673351"/>
            <a:ext cx="2651760" cy="325881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3383280" y="1673352"/>
            <a:ext cx="2651760" cy="5486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474720" y="1783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Scheduler</a:t>
            </a:r>
            <a:endParaRPr lang="en-US" sz="1300" dirty="0"/>
          </a:p>
        </p:txBody>
      </p:sp>
      <p:sp>
        <p:nvSpPr>
          <p:cNvPr id="47" name="Shape 43"/>
          <p:cNvSpPr/>
          <p:nvPr/>
        </p:nvSpPr>
        <p:spPr>
          <a:xfrm>
            <a:off x="3611880" y="2176272"/>
            <a:ext cx="2194560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611880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ForkJoinPool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3611880" y="24140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work-stealing scheduler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3584448" y="2743200"/>
            <a:ext cx="2249424" cy="237744"/>
          </a:xfrm>
          <a:prstGeom prst="rect">
            <a:avLst/>
          </a:prstGeom>
          <a:solidFill>
            <a:srgbClr val="F0F6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3621024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mount VT on carrier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3584448" y="3017520"/>
            <a:ext cx="2249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21024" y="3017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execute runnable code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584448" y="3291840"/>
            <a:ext cx="2249424" cy="237744"/>
          </a:xfrm>
          <a:prstGeom prst="rect">
            <a:avLst/>
          </a:prstGeom>
          <a:solidFill>
            <a:srgbClr val="F0F6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621024" y="32918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blocking I/O detected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3584448" y="3566160"/>
            <a:ext cx="2249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3621024" y="35661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unmount VT  save stack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3584448" y="3840480"/>
            <a:ext cx="2249424" cy="237744"/>
          </a:xfrm>
          <a:prstGeom prst="rect">
            <a:avLst/>
          </a:prstGeom>
          <a:solidFill>
            <a:srgbClr val="F0F6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621024" y="38404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free carrier for next VT</a:t>
            </a:r>
            <a:endParaRPr lang="en-US" sz="850" dirty="0"/>
          </a:p>
        </p:txBody>
      </p:sp>
      <p:sp>
        <p:nvSpPr>
          <p:cNvPr id="60" name="Text 56"/>
          <p:cNvSpPr/>
          <p:nvPr/>
        </p:nvSpPr>
        <p:spPr>
          <a:xfrm>
            <a:off x="3465576" y="422910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Work-stealing ForkJoinPool (default). Mounts a virtual thread onto a carrier thread for execution. Unmounts on blocking I/O, parks, or yields.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6355080" y="1673351"/>
            <a:ext cx="2651760" cy="325882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6355080" y="1673352"/>
            <a:ext cx="2651760" cy="54864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6446520" y="1783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Threads</a:t>
            </a:r>
            <a:endParaRPr lang="en-US" sz="1300" dirty="0"/>
          </a:p>
        </p:txBody>
      </p:sp>
      <p:sp>
        <p:nvSpPr>
          <p:cNvPr id="64" name="Shape 60"/>
          <p:cNvSpPr/>
          <p:nvPr/>
        </p:nvSpPr>
        <p:spPr>
          <a:xfrm>
            <a:off x="6583680" y="2176272"/>
            <a:ext cx="2194560" cy="457200"/>
          </a:xfrm>
          <a:prstGeom prst="rect">
            <a:avLst/>
          </a:prstGeom>
          <a:solidFill>
            <a:srgbClr val="FFB627">
              <a:alpha val="20000"/>
            </a:srgbClr>
          </a:solidFill>
          <a:ln w="10160">
            <a:solidFill>
              <a:srgbClr val="FFB627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6583680" y="2176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Thread #1</a:t>
            </a:r>
            <a:endParaRPr lang="en-US" sz="1000" dirty="0"/>
          </a:p>
        </p:txBody>
      </p:sp>
      <p:sp>
        <p:nvSpPr>
          <p:cNvPr id="66" name="Shape 62"/>
          <p:cNvSpPr/>
          <p:nvPr/>
        </p:nvSpPr>
        <p:spPr>
          <a:xfrm>
            <a:off x="6583680" y="2761488"/>
            <a:ext cx="2194560" cy="457200"/>
          </a:xfrm>
          <a:prstGeom prst="rect">
            <a:avLst/>
          </a:prstGeom>
          <a:solidFill>
            <a:srgbClr val="FFB627">
              <a:alpha val="20000"/>
            </a:srgbClr>
          </a:solidFill>
          <a:ln w="10160">
            <a:solidFill>
              <a:srgbClr val="FFB627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6583680" y="27614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Thread #2</a:t>
            </a:r>
            <a:endParaRPr lang="en-US" sz="1000" dirty="0"/>
          </a:p>
        </p:txBody>
      </p:sp>
      <p:sp>
        <p:nvSpPr>
          <p:cNvPr id="68" name="Shape 64"/>
          <p:cNvSpPr/>
          <p:nvPr/>
        </p:nvSpPr>
        <p:spPr>
          <a:xfrm>
            <a:off x="6583680" y="3346704"/>
            <a:ext cx="2194560" cy="457200"/>
          </a:xfrm>
          <a:prstGeom prst="rect">
            <a:avLst/>
          </a:prstGeom>
          <a:solidFill>
            <a:srgbClr val="FFB627">
              <a:alpha val="20000"/>
            </a:srgbClr>
          </a:solidFill>
          <a:ln w="10160">
            <a:solidFill>
              <a:srgbClr val="FFB627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6583680" y="3346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Thread #3</a:t>
            </a:r>
            <a:endParaRPr lang="en-US" sz="1000" dirty="0"/>
          </a:p>
        </p:txBody>
      </p:sp>
      <p:sp>
        <p:nvSpPr>
          <p:cNvPr id="70" name="Text 66"/>
          <p:cNvSpPr/>
          <p:nvPr/>
        </p:nvSpPr>
        <p:spPr>
          <a:xfrm>
            <a:off x="6364224" y="40096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CPU cores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6437376" y="427380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OS platform threads (default: # CPU cores). The JVM reuses them across many virtual threads — like a shared pool of CPUs.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3063240" y="2834640"/>
            <a:ext cx="32004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6035040" y="2834640"/>
            <a:ext cx="320040" cy="0"/>
          </a:xfrm>
          <a:prstGeom prst="line">
            <a:avLst/>
          </a:prstGeom>
          <a:noFill/>
          <a:ln w="25400">
            <a:solidFill>
              <a:srgbClr val="FFB62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88136" y="3317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Mount, Unmount &amp; Pinning — The Critical Lifecycle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12700">
            <a:solidFill>
              <a:srgbClr val="009E8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042416"/>
            <a:ext cx="4206240" cy="318211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2064" y="10972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 Lifecycle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" y="1527048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6112" y="14904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96112" y="168249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Thread.ofVirtual().start(runnable). Heap-allocated stack (~2 KB initial).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1801368"/>
            <a:ext cx="0" cy="155448"/>
          </a:xfrm>
          <a:prstGeom prst="line">
            <a:avLst/>
          </a:prstGeom>
          <a:noFill/>
          <a:ln w="15240">
            <a:solidFill>
              <a:srgbClr val="009E8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064" y="1997964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" y="19979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96112" y="19613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96112" y="215341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assigns a carrier thread. VT stack copied to carrier's native stack.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0080" y="2272284"/>
            <a:ext cx="0" cy="155448"/>
          </a:xfrm>
          <a:prstGeom prst="line">
            <a:avLst/>
          </a:prstGeom>
          <a:noFill/>
          <a:ln w="15240">
            <a:solidFill>
              <a:srgbClr val="009E8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" y="2468880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6112" y="2432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96112" y="262432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bytecode execution on the carrier thread (CPU actively used).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40080" y="2743200"/>
            <a:ext cx="0" cy="155448"/>
          </a:xfrm>
          <a:prstGeom prst="line">
            <a:avLst/>
          </a:prstGeom>
          <a:noFill/>
          <a:ln w="15240">
            <a:solidFill>
              <a:srgbClr val="009E8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2064" y="2939796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" y="29397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96112" y="29032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Unmounted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96112" y="309524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I/O / park() detected — stack saved back to heap, carrier freed.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40080" y="3214116"/>
            <a:ext cx="0" cy="155448"/>
          </a:xfrm>
          <a:prstGeom prst="line">
            <a:avLst/>
          </a:prstGeom>
          <a:noFill/>
          <a:ln w="15240">
            <a:solidFill>
              <a:srgbClr val="009E8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2064" y="3410712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2064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96112" y="3374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Re-mounted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96112" y="356616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completes — VT re-mounted on any available carrier. Continues seamlessly.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40080" y="3685032"/>
            <a:ext cx="0" cy="155448"/>
          </a:xfrm>
          <a:prstGeom prst="line">
            <a:avLst/>
          </a:prstGeom>
          <a:noFill/>
          <a:ln w="15240">
            <a:solidFill>
              <a:srgbClr val="009E8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12064" y="3881628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064" y="38816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96112" y="38450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96112" y="403707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returns. Stack collected by GC. No OS thread cleanup needed.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65760" y="4279392"/>
            <a:ext cx="4206240" cy="530352"/>
          </a:xfrm>
          <a:prstGeom prst="rect">
            <a:avLst/>
          </a:prstGeom>
          <a:solidFill>
            <a:srgbClr val="FFB627">
              <a:alpha val="12000"/>
            </a:srgbClr>
          </a:solidFill>
          <a:ln w="19050">
            <a:solidFill>
              <a:srgbClr val="FFB627"/>
            </a:solidFill>
            <a:prstDash val="solid"/>
          </a:ln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352544"/>
            <a:ext cx="274320" cy="2743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04672" y="4343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804672" y="456285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 hopping across OS threads  +  Pinning detection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4736592" y="1042416"/>
            <a:ext cx="4041648" cy="2377440"/>
          </a:xfrm>
          <a:prstGeom prst="rect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115568"/>
            <a:ext cx="329184" cy="329184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5212080" y="1115568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Pinning — The Gotcha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4828032" y="15179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thread is PINNED to its carrier when it blocks inside: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4828032" y="1865376"/>
            <a:ext cx="3858768" cy="603504"/>
          </a:xfrm>
          <a:prstGeom prst="rect">
            <a:avLst/>
          </a:prstGeom>
          <a:solidFill>
            <a:srgbClr val="1A0A00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4828032" y="1865376"/>
            <a:ext cx="64008" cy="603504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965192" y="1929384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block/method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4965192" y="2194560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monitor locks prevent unmounting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4828032" y="2578608"/>
            <a:ext cx="3858768" cy="603504"/>
          </a:xfrm>
          <a:prstGeom prst="rect">
            <a:avLst/>
          </a:prstGeom>
          <a:solidFill>
            <a:srgbClr val="1A0A00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4828032" y="2578608"/>
            <a:ext cx="64008" cy="603504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965192" y="2642616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method / JNI call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4965192" y="2907792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cannot introspect native frames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4736592" y="3310128"/>
            <a:ext cx="4041648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3" name="Text 48"/>
          <p:cNvSpPr/>
          <p:nvPr/>
        </p:nvSpPr>
        <p:spPr>
          <a:xfrm>
            <a:off x="4846320" y="3310128"/>
            <a:ext cx="3858768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-Djdk.tracePinnedThreads=full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4736592" y="3730752"/>
            <a:ext cx="4041648" cy="1078992"/>
          </a:xfrm>
          <a:prstGeom prst="rect">
            <a:avLst/>
          </a:prstGeom>
          <a:solidFill>
            <a:srgbClr val="FFB627">
              <a:alpha val="18000"/>
            </a:srgbClr>
          </a:solidFill>
          <a:ln w="31750">
            <a:solidFill>
              <a:srgbClr val="FFB627"/>
            </a:solidFill>
            <a:prstDash val="solid"/>
          </a:ln>
          <a:effectLst>
            <a:outerShdw blurRad="127000" dist="50800" dir="16200000" algn="bl" rotWithShape="0">
              <a:srgbClr val="FFB627">
                <a:alpha val="30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4736592" y="3730752"/>
            <a:ext cx="4041648" cy="274320"/>
          </a:xfrm>
          <a:prstGeom prst="rect">
            <a:avLst/>
          </a:prstGeom>
          <a:solidFill>
            <a:srgbClr val="FFB627">
              <a:alpha val="70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4773168" y="373075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25  ·  JEP 491  — GAME CHANGER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4791456" y="402336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no longer pins Virtual Threads</a:t>
            </a:r>
            <a:endParaRPr lang="en-US" sz="1300" dirty="0"/>
          </a:p>
        </p:txBody>
      </p:sp>
      <p:sp>
        <p:nvSpPr>
          <p:cNvPr id="58" name="Text 53"/>
          <p:cNvSpPr/>
          <p:nvPr/>
        </p:nvSpPr>
        <p:spPr>
          <a:xfrm>
            <a:off x="4791456" y="435254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codebases get this free on upgrade — the single biggest reason to move to JDK 25.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3272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Virtual Threads Are NOT the Answer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274320" y="329184"/>
            <a:ext cx="64008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reach for virtual threads here: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444752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444752"/>
            <a:ext cx="64008" cy="768096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5910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49961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 tasks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60120" y="1746504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Number-crunching, image processing, ML inference. Blocked on CPU, not I/O — no benefit from unmounting. Use platform threads + ForkJoinPool.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11480" y="2340864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11480" y="2340864"/>
            <a:ext cx="64008" cy="768096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48716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39572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Thread-local abuse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60120" y="2642616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that stuff heavyweight objects into ThreadLocal cache per-thread now face memory explosion with millions of VTs.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11480" y="3236976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11480" y="3236976"/>
            <a:ext cx="64008" cy="768096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8328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291840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Synchronized-heavy code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60120" y="3538728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 littered with synchronized will pin and degrade back to platform-thread behavior. Audit first.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11480" y="4133088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11480" y="4133088"/>
            <a:ext cx="64008" cy="768096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279392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418795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Reactive/async code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60120" y="443484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stack is already Project Reactor or CompletableFuture, migration adds complexity without proportional gain.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466344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25 changes the picture: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663440" y="1444752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663440" y="1444752"/>
            <a:ext cx="64008" cy="7680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159105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12080" y="149961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 491 (Finalized)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212080" y="174650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no longer pins in JDK 25. Major historic obstacle removed — legacy codebases get a free upgrade.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4663440" y="2340864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663440" y="2340864"/>
            <a:ext cx="64008" cy="7680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2487168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212080" y="239572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Concurrency (Final)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212080" y="2642616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 505 delivers StructuredTaskScope as a standard API — scope-based lifecycle for groups of virtual threads.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4663440" y="3236976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4663440" y="3236976"/>
            <a:ext cx="64008" cy="7680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383280"/>
            <a:ext cx="292608" cy="29260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212080" y="329184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Values (Final)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5212080" y="353872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 506 replaces ThreadLocal for read-only per-thread values — safer and more memory-efficient for VTs.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4663440" y="4133088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4663440" y="4133088"/>
            <a:ext cx="64008" cy="7680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4279392"/>
            <a:ext cx="292608" cy="29260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212080" y="418795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watch for:</a:t>
            </a: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5212080" y="443484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pools anti-pattern. Virtual threads are cheap — don't pool them. Pools add contention with no benefit.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347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Use Cases &amp; Adopting Virtual Threads Today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12700">
            <a:solidFill>
              <a:srgbClr val="009E8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078992"/>
            <a:ext cx="2724912" cy="1828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1078992"/>
            <a:ext cx="272491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207008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68249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HTTP Services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2002536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REST/gRPC servers with many concurrent connections. Each request gets its own virtual thread — code looks synchronous, scales like async.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319272" y="1078992"/>
            <a:ext cx="2724912" cy="1828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19272" y="1078992"/>
            <a:ext cx="272491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207008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10712" y="168249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Database-Heavy Workloads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410712" y="2002536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queries, connection waits. Virtual threads make efficient use of connection pools while threads idle on DB round-trips.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227064" y="1078992"/>
            <a:ext cx="2724912" cy="1828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27064" y="1078992"/>
            <a:ext cx="272491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207008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18504" y="168249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&amp; Fan-out Calls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318504" y="2002536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multiple upstream APIs per request. Parallelize trivially with Structured Concurrency — scoped, safe, readable.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02920" y="306324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Quick-Start (JDK 21–25)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11480" y="3456432"/>
            <a:ext cx="8321040" cy="1527048"/>
          </a:xfrm>
          <a:prstGeom prst="rect">
            <a:avLst/>
          </a:prstGeom>
          <a:solidFill>
            <a:srgbClr val="0A1220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48640" y="3502152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8B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Create a single virtual thread</a:t>
            </a:r>
            <a:endParaRPr lang="en-US" sz="820" dirty="0"/>
          </a:p>
        </p:txBody>
      </p:sp>
      <p:sp>
        <p:nvSpPr>
          <p:cNvPr id="23" name="Text 17"/>
          <p:cNvSpPr/>
          <p:nvPr/>
        </p:nvSpPr>
        <p:spPr>
          <a:xfrm>
            <a:off x="548640" y="3596335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vt = Thread.ofVirtual().name("my-vt").start(() -&gt; doWork());</a:t>
            </a:r>
            <a:endParaRPr lang="en-US" sz="820" dirty="0"/>
          </a:p>
        </p:txBody>
      </p:sp>
      <p:sp>
        <p:nvSpPr>
          <p:cNvPr id="24" name="Text 18"/>
          <p:cNvSpPr/>
          <p:nvPr/>
        </p:nvSpPr>
        <p:spPr>
          <a:xfrm>
            <a:off x="548640" y="3690518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20" dirty="0"/>
          </a:p>
        </p:txBody>
      </p:sp>
      <p:sp>
        <p:nvSpPr>
          <p:cNvPr id="25" name="Text 19"/>
          <p:cNvSpPr/>
          <p:nvPr/>
        </p:nvSpPr>
        <p:spPr>
          <a:xfrm>
            <a:off x="548640" y="3784702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8B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Virtual thread per task executor (drop-in replacement for cached thread pool)</a:t>
            </a:r>
            <a:endParaRPr lang="en-US" sz="820" dirty="0"/>
          </a:p>
        </p:txBody>
      </p:sp>
      <p:sp>
        <p:nvSpPr>
          <p:cNvPr id="26" name="Text 20"/>
          <p:cNvSpPr/>
          <p:nvPr/>
        </p:nvSpPr>
        <p:spPr>
          <a:xfrm>
            <a:off x="548640" y="3878885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(var exec = Executors.newVirtualThreadPerTaskExecutor()) {</a:t>
            </a:r>
            <a:endParaRPr lang="en-US" sz="820" dirty="0"/>
          </a:p>
        </p:txBody>
      </p:sp>
      <p:sp>
        <p:nvSpPr>
          <p:cNvPr id="27" name="Text 21"/>
          <p:cNvSpPr/>
          <p:nvPr/>
        </p:nvSpPr>
        <p:spPr>
          <a:xfrm>
            <a:off x="548640" y="3973068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exec.submit(() -&gt; callDatabase());      // each gets own VT</a:t>
            </a:r>
            <a:endParaRPr lang="en-US" sz="820" dirty="0"/>
          </a:p>
        </p:txBody>
      </p:sp>
      <p:sp>
        <p:nvSpPr>
          <p:cNvPr id="28" name="Text 22"/>
          <p:cNvSpPr/>
          <p:nvPr/>
        </p:nvSpPr>
        <p:spPr>
          <a:xfrm>
            <a:off x="548640" y="4067251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29" name="Text 23"/>
          <p:cNvSpPr/>
          <p:nvPr/>
        </p:nvSpPr>
        <p:spPr>
          <a:xfrm>
            <a:off x="548640" y="4161434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20" dirty="0"/>
          </a:p>
        </p:txBody>
      </p:sp>
      <p:sp>
        <p:nvSpPr>
          <p:cNvPr id="30" name="Text 24"/>
          <p:cNvSpPr/>
          <p:nvPr/>
        </p:nvSpPr>
        <p:spPr>
          <a:xfrm>
            <a:off x="548640" y="4255618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8B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Structured Concurrency — JDK 25 final API (JEP 505)</a:t>
            </a:r>
            <a:endParaRPr lang="en-US" sz="820" dirty="0"/>
          </a:p>
        </p:txBody>
      </p:sp>
      <p:sp>
        <p:nvSpPr>
          <p:cNvPr id="31" name="Text 25"/>
          <p:cNvSpPr/>
          <p:nvPr/>
        </p:nvSpPr>
        <p:spPr>
          <a:xfrm>
            <a:off x="548640" y="4349801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(var scope = new StructuredTaskScope.ShutdownOnFailure()) {</a:t>
            </a:r>
            <a:endParaRPr lang="en-US" sz="820" dirty="0"/>
          </a:p>
        </p:txBody>
      </p:sp>
      <p:sp>
        <p:nvSpPr>
          <p:cNvPr id="32" name="Text 26"/>
          <p:cNvSpPr/>
          <p:nvPr/>
        </p:nvSpPr>
        <p:spPr>
          <a:xfrm>
            <a:off x="548640" y="4443984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a = scope.fork(() -&gt; fetchUser(id));</a:t>
            </a:r>
            <a:endParaRPr lang="en-US" sz="820" dirty="0"/>
          </a:p>
        </p:txBody>
      </p:sp>
      <p:sp>
        <p:nvSpPr>
          <p:cNvPr id="33" name="Text 27"/>
          <p:cNvSpPr/>
          <p:nvPr/>
        </p:nvSpPr>
        <p:spPr>
          <a:xfrm>
            <a:off x="548640" y="4538167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b = scope.fork(() -&gt; fetchOrders(id));</a:t>
            </a:r>
            <a:endParaRPr lang="en-US" sz="820" dirty="0"/>
          </a:p>
        </p:txBody>
      </p:sp>
      <p:sp>
        <p:nvSpPr>
          <p:cNvPr id="34" name="Text 28"/>
          <p:cNvSpPr/>
          <p:nvPr/>
        </p:nvSpPr>
        <p:spPr>
          <a:xfrm>
            <a:off x="548640" y="4632350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scope.join().throwIfFailed();</a:t>
            </a:r>
            <a:endParaRPr lang="en-US" sz="820" dirty="0"/>
          </a:p>
        </p:txBody>
      </p:sp>
      <p:sp>
        <p:nvSpPr>
          <p:cNvPr id="35" name="Text 29"/>
          <p:cNvSpPr/>
          <p:nvPr/>
        </p:nvSpPr>
        <p:spPr>
          <a:xfrm>
            <a:off x="548640" y="4726534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Page(a.get(), b.get());</a:t>
            </a:r>
            <a:endParaRPr lang="en-US" sz="820" dirty="0"/>
          </a:p>
        </p:txBody>
      </p:sp>
      <p:sp>
        <p:nvSpPr>
          <p:cNvPr id="36" name="Text 30"/>
          <p:cNvSpPr/>
          <p:nvPr/>
        </p:nvSpPr>
        <p:spPr>
          <a:xfrm>
            <a:off x="548640" y="4820717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4956" y="2834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3 — Structured Concurrency Fan-out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274320" y="329184"/>
            <a:ext cx="64008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4048" y="1005840"/>
            <a:ext cx="2743200" cy="566928"/>
          </a:xfrm>
          <a:prstGeom prst="rect">
            <a:avLst/>
          </a:prstGeom>
          <a:solidFill>
            <a:srgbClr val="D0DFF0">
              <a:alpha val="70000"/>
            </a:srgbClr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1005840"/>
            <a:ext cx="2743200" cy="201168"/>
          </a:xfrm>
          <a:prstGeom prst="rect">
            <a:avLst/>
          </a:prstGeom>
          <a:solidFill>
            <a:srgbClr val="009E83">
              <a:alpha val="60000"/>
            </a:srgbClr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005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93776" y="12252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17904" y="124358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Benchmark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00984" y="1005840"/>
            <a:ext cx="2743200" cy="566928"/>
          </a:xfrm>
          <a:prstGeom prst="rect">
            <a:avLst/>
          </a:prstGeom>
          <a:solidFill>
            <a:srgbClr val="D0DFF0">
              <a:alpha val="70000"/>
            </a:srgbClr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00984" y="1005840"/>
            <a:ext cx="2743200" cy="201168"/>
          </a:xfrm>
          <a:prstGeom prst="rect">
            <a:avLst/>
          </a:prstGeom>
          <a:solidFill>
            <a:srgbClr val="009E83">
              <a:alpha val="60000"/>
            </a:srgbClr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00984" y="1005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10712" y="12252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34840" y="124358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 Detection + Fix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0" y="1005840"/>
            <a:ext cx="2743200" cy="566928"/>
          </a:xfrm>
          <a:prstGeom prst="rect">
            <a:avLst/>
          </a:prstGeom>
          <a:solidFill>
            <a:srgbClr val="FFB627">
              <a:alpha val="12000"/>
            </a:srgbClr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1005840"/>
            <a:ext cx="2743200" cy="201168"/>
          </a:xfrm>
          <a:prstGeom prst="rect">
            <a:avLst/>
          </a:prstGeom>
          <a:solidFill>
            <a:srgbClr val="FFB627">
              <a:alpha val="90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1005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NOW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327648" y="12252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51776" y="124358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Concurrency Fan-out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84048" y="1682496"/>
            <a:ext cx="4315968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84048" y="1682496"/>
            <a:ext cx="4315968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1792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12064" y="2203704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" y="2203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77824" y="21854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77824" y="2386584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product page that fans out 3 upstream API calls: fetchUser(), fetchInventory(), fetchRecommendations().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30936" y="2459736"/>
            <a:ext cx="0" cy="384048"/>
          </a:xfrm>
          <a:prstGeom prst="line">
            <a:avLst/>
          </a:prstGeom>
          <a:noFill/>
          <a:ln w="12700">
            <a:solidFill>
              <a:srgbClr val="009E8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12064" y="288036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2064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77824" y="28620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77824" y="3063240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StructuredTaskScope.ShutdownOnFailure to fork all 3 — scope manages their lifecycle automatically.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30936" y="3136392"/>
            <a:ext cx="0" cy="384048"/>
          </a:xfrm>
          <a:prstGeom prst="line">
            <a:avLst/>
          </a:prstGeom>
          <a:noFill/>
          <a:ln w="12700">
            <a:solidFill>
              <a:srgbClr val="009E8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12064" y="3557016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2064" y="3557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77824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one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77824" y="373989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deliberate failure in fetchInventory(). Watch siblings auto-cancel — no orphaned threads.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30936" y="3813048"/>
            <a:ext cx="0" cy="384048"/>
          </a:xfrm>
          <a:prstGeom prst="line">
            <a:avLst/>
          </a:prstGeom>
          <a:noFill/>
          <a:ln w="12700">
            <a:solidFill>
              <a:srgbClr val="009E8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12064" y="4233672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2064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77824" y="42153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77824" y="4416552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equivalent CompletableFuture chain. Let the audience judge which they'd rather debug at 2 AM.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828032" y="1682496"/>
            <a:ext cx="395020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828032" y="1682496"/>
            <a:ext cx="3950208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56048" y="179222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(JEP 505 — Final in JDK 25)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846320" y="2084832"/>
            <a:ext cx="3895344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937760" y="2139696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(var scope =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937760" y="2293315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StructuredTaskScope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937760" y="2446934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.ShutdownOnFailure()) {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937760" y="2600554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u = scope.fork(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937760" y="2754173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fetchUser(id));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937760" y="2907792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inv = scope.fork(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937760" y="3061411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fetchInventory(id));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937760" y="3215030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scope.join().throwIfFailed();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4937760" y="3368650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Page(u.get(),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4937760" y="3522269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inv.get());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4937760" y="3675888"/>
            <a:ext cx="37307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siblings auto-cancel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4828032" y="4041648"/>
            <a:ext cx="3950208" cy="859536"/>
          </a:xfrm>
          <a:prstGeom prst="rect">
            <a:avLst/>
          </a:prstGeom>
          <a:solidFill>
            <a:srgbClr val="FFB627">
              <a:alpha val="10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956048" y="40965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demo matters: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956048" y="4315968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safe, readable fan-out — this is the pattern that makes microservice developers stop reaching for reactive frameworks.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82880"/>
            <a:ext cx="5303520" cy="530352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731520"/>
            <a:ext cx="4023360" cy="4023360"/>
          </a:xfrm>
          <a:prstGeom prst="ellipse">
            <a:avLst/>
          </a:prstGeom>
          <a:solidFill>
            <a:srgbClr val="00C9A7">
              <a:alpha val="14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77724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502920" y="2743200"/>
            <a:ext cx="8138160" cy="0"/>
          </a:xfrm>
          <a:prstGeom prst="line">
            <a:avLst/>
          </a:prstGeom>
          <a:noFill/>
          <a:ln w="12700">
            <a:solidFill>
              <a:srgbClr val="009E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9077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JEP 491 — Synchronized No Longer Pins (JDK 25)  →  openjdk.org/jeps/491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32918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JEP 505 — Structured Concurrency (Final)         →  openjdk.org/jeps/505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675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JEP 506 — Scoped Values (Final)                  →  openjdk.org/jeps/506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05993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Inside Project Loom — Ron Pressler @ Inside Java  →  inside.java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3232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 min Q&amp;A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" y="4809744"/>
            <a:ext cx="9144000" cy="233934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56032"/>
            <a:ext cx="493776" cy="493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3774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12700">
            <a:solidFill>
              <a:srgbClr val="FFB6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" y="950976"/>
            <a:ext cx="4352544" cy="3877056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" y="950976"/>
            <a:ext cx="4352544" cy="329184"/>
          </a:xfrm>
          <a:prstGeom prst="rect">
            <a:avLst/>
          </a:prstGeom>
          <a:solidFill>
            <a:srgbClr val="FFB627">
              <a:alpha val="80000"/>
            </a:srgbClr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8755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987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BOOK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36976" y="996696"/>
            <a:ext cx="1335024" cy="219456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0"/>
          <p:cNvSpPr/>
          <p:nvPr/>
        </p:nvSpPr>
        <p:spPr>
          <a:xfrm>
            <a:off x="3236976" y="99669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Q3 / Q4 2026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7200" y="1335024"/>
            <a:ext cx="4133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Buzzing Java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57200" y="1883664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Rediscovering Java's original eleven buzzwords — and why they matter more than ever in the age of AI.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93776" y="2432304"/>
            <a:ext cx="4059936" cy="0"/>
          </a:xfrm>
          <a:prstGeom prst="line">
            <a:avLst/>
          </a:prstGeom>
          <a:noFill/>
          <a:ln w="10160">
            <a:solidFill>
              <a:srgbClr val="1A2E4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25054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859536" y="2505456"/>
            <a:ext cx="969264" cy="219456"/>
          </a:xfrm>
          <a:prstGeom prst="rect">
            <a:avLst/>
          </a:prstGeom>
          <a:solidFill>
            <a:srgbClr val="1A2E4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9536" y="25054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1901952" y="2505456"/>
            <a:ext cx="969264" cy="219456"/>
          </a:xfrm>
          <a:prstGeom prst="rect">
            <a:avLst/>
          </a:prstGeom>
          <a:solidFill>
            <a:srgbClr val="1A2E4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901952" y="25054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944368" y="2505456"/>
            <a:ext cx="969264" cy="219456"/>
          </a:xfrm>
          <a:prstGeom prst="rect">
            <a:avLst/>
          </a:prstGeom>
          <a:solidFill>
            <a:srgbClr val="1A2E4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944368" y="25054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Leaders</a:t>
            </a:r>
            <a:endParaRPr lang="en-US" sz="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80360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4944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Java's original design principles</a:t>
            </a:r>
            <a:endParaRPr lang="en-US" sz="8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84" y="2880360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852928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JVM concepts to production reality</a:t>
            </a:r>
            <a:endParaRPr lang="en-US" sz="85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82696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94944" y="3236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Java's role in cloud-native &amp; AI</a:t>
            </a:r>
            <a:endParaRPr lang="en-US" sz="8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84" y="3282696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852928" y="3236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 that evolve safely over time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57200" y="3712464"/>
            <a:ext cx="4114800" cy="475488"/>
          </a:xfrm>
          <a:prstGeom prst="rect">
            <a:avLst/>
          </a:prstGeom>
          <a:solidFill>
            <a:srgbClr val="1A2E45"/>
          </a:solidFill>
          <a:ln w="10160">
            <a:solidFill>
              <a:srgbClr val="FFB62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57200" y="3712464"/>
            <a:ext cx="54864" cy="475488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813048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41248" y="37673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ready  ·  Seeking publisher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841248" y="3968496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 publisher? Let's talk after the session!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4846320" y="950976"/>
            <a:ext cx="3968496" cy="3877056"/>
          </a:xfrm>
          <a:prstGeom prst="rect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4846320" y="950976"/>
            <a:ext cx="3968496" cy="32918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987552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248656" y="987552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JBIGJEX — JAVA COMMUNITY — UPCOMING MEETUPS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4956048" y="1353312"/>
            <a:ext cx="3749040" cy="1572768"/>
          </a:xfrm>
          <a:prstGeom prst="rect">
            <a:avLst/>
          </a:prstGeom>
          <a:solidFill>
            <a:srgbClr val="111E2E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4956048" y="1353312"/>
            <a:ext cx="64008" cy="15727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074920" y="1389888"/>
            <a:ext cx="1152144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0160">
            <a:solidFill>
              <a:srgbClr val="00C9A7"/>
            </a:solidFill>
            <a:prstDash val="solid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3208" y="1417320"/>
            <a:ext cx="164592" cy="16459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276088" y="1417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389888"/>
            <a:ext cx="237744" cy="237744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675120" y="1389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Dojo</a:t>
            </a:r>
            <a:endParaRPr lang="en-US" sz="11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1719072"/>
            <a:ext cx="164592" cy="164592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5303520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code heading for public review</a:t>
            </a:r>
            <a:endParaRPr lang="en-US" sz="85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1993392"/>
            <a:ext cx="164592" cy="164592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303520" y="1993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reviews live — find the core problem</a:t>
            </a:r>
            <a:endParaRPr lang="en-US" sz="85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2267712"/>
            <a:ext cx="164592" cy="164592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5303520" y="22677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using GitHub Copilot, on stage</a:t>
            </a:r>
            <a:endParaRPr lang="en-US" sz="850" dirty="0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2542032"/>
            <a:ext cx="164592" cy="164592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5303520" y="2542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home: review patterns + refactored code</a:t>
            </a:r>
            <a:endParaRPr lang="en-US" sz="850" dirty="0"/>
          </a:p>
        </p:txBody>
      </p:sp>
      <p:sp>
        <p:nvSpPr>
          <p:cNvPr id="57" name="Shape 41"/>
          <p:cNvSpPr/>
          <p:nvPr/>
        </p:nvSpPr>
        <p:spPr>
          <a:xfrm>
            <a:off x="4956048" y="3017520"/>
            <a:ext cx="3749040" cy="1042416"/>
          </a:xfrm>
          <a:prstGeom prst="rect">
            <a:avLst/>
          </a:prstGeom>
          <a:solidFill>
            <a:srgbClr val="111E2E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8" name="Shape 42"/>
          <p:cNvSpPr/>
          <p:nvPr/>
        </p:nvSpPr>
        <p:spPr>
          <a:xfrm>
            <a:off x="4956048" y="3017520"/>
            <a:ext cx="64008" cy="1042416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59" name="Shape 43"/>
          <p:cNvSpPr/>
          <p:nvPr/>
        </p:nvSpPr>
        <p:spPr>
          <a:xfrm>
            <a:off x="5074920" y="3054096"/>
            <a:ext cx="1152144" cy="237744"/>
          </a:xfrm>
          <a:prstGeom prst="rect">
            <a:avLst/>
          </a:prstGeom>
          <a:solidFill>
            <a:srgbClr val="FFB627">
              <a:alpha val="80000"/>
            </a:srgbClr>
          </a:solidFill>
          <a:ln w="10160">
            <a:solidFill>
              <a:srgbClr val="FFB627"/>
            </a:solidFill>
            <a:prstDash val="solid"/>
          </a:ln>
        </p:spPr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3208" y="3081528"/>
            <a:ext cx="164592" cy="164592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5276088" y="3081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/ Q4 2026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2" name="Text 45"/>
          <p:cNvSpPr/>
          <p:nvPr/>
        </p:nvSpPr>
        <p:spPr>
          <a:xfrm>
            <a:off x="6400800" y="3054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Talks</a:t>
            </a:r>
            <a:endParaRPr lang="en-US" sz="1100" dirty="0"/>
          </a:p>
        </p:txBody>
      </p:sp>
      <p:pic>
        <p:nvPicPr>
          <p:cNvPr id="63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064" y="3383280"/>
            <a:ext cx="201168" cy="201168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5340096" y="338328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— Live Demo</a:t>
            </a:r>
            <a:endParaRPr lang="en-US" sz="1000" dirty="0"/>
          </a:p>
        </p:txBody>
      </p:sp>
      <p:pic>
        <p:nvPicPr>
          <p:cNvPr id="65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064" y="3712464"/>
            <a:ext cx="201168" cy="201168"/>
          </a:xfrm>
          <a:prstGeom prst="rect">
            <a:avLst/>
          </a:prstGeom>
        </p:spPr>
      </p:pic>
      <p:sp>
        <p:nvSpPr>
          <p:cNvPr id="66" name="Text 47"/>
          <p:cNvSpPr/>
          <p:nvPr/>
        </p:nvSpPr>
        <p:spPr>
          <a:xfrm>
            <a:off x="5340096" y="3712464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Kafka — Live Demo</a:t>
            </a:r>
            <a:endParaRPr lang="en-US" sz="1000" dirty="0"/>
          </a:p>
        </p:txBody>
      </p:sp>
      <p:sp>
        <p:nvSpPr>
          <p:cNvPr id="67" name="Shape 48"/>
          <p:cNvSpPr/>
          <p:nvPr/>
        </p:nvSpPr>
        <p:spPr>
          <a:xfrm>
            <a:off x="4956048" y="4151376"/>
            <a:ext cx="3749040" cy="676656"/>
          </a:xfrm>
          <a:prstGeom prst="rect">
            <a:avLst/>
          </a:prstGeom>
          <a:solidFill>
            <a:srgbClr val="FFB627">
              <a:alpha val="12000"/>
            </a:srgbClr>
          </a:solidFill>
          <a:ln w="19050">
            <a:solidFill>
              <a:srgbClr val="FFB627"/>
            </a:solidFill>
            <a:prstDash val="solid"/>
          </a:ln>
        </p:spPr>
      </p:sp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47488" y="4224528"/>
            <a:ext cx="256032" cy="256032"/>
          </a:xfrm>
          <a:prstGeom prst="rect">
            <a:avLst/>
          </a:prstGeom>
        </p:spPr>
      </p:pic>
      <p:sp>
        <p:nvSpPr>
          <p:cNvPr id="69" name="Text 49"/>
          <p:cNvSpPr/>
          <p:nvPr/>
        </p:nvSpPr>
        <p:spPr>
          <a:xfrm>
            <a:off x="5358384" y="420624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speak or contribute?</a:t>
            </a:r>
            <a:endParaRPr lang="en-US" sz="1000" dirty="0"/>
          </a:p>
        </p:txBody>
      </p:sp>
      <p:sp>
        <p:nvSpPr>
          <p:cNvPr id="70" name="Text 50"/>
          <p:cNvSpPr/>
          <p:nvPr/>
        </p:nvSpPr>
        <p:spPr>
          <a:xfrm>
            <a:off x="5358384" y="4443984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or fill the survey — mention your topic!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1" name="Shape 51"/>
          <p:cNvSpPr/>
          <p:nvPr/>
        </p:nvSpPr>
        <p:spPr>
          <a:xfrm>
            <a:off x="502920" y="4809744"/>
            <a:ext cx="8138160" cy="0"/>
          </a:xfrm>
          <a:prstGeom prst="line">
            <a:avLst/>
          </a:prstGeom>
          <a:noFill/>
          <a:ln w="12700">
            <a:solidFill>
              <a:srgbClr val="243B55"/>
            </a:solidFill>
            <a:prstDash val="solid"/>
          </a:ln>
        </p:spPr>
      </p:sp>
      <p:pic>
        <p:nvPicPr>
          <p:cNvPr id="72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" y="4846320"/>
            <a:ext cx="182880" cy="182880"/>
          </a:xfrm>
          <a:prstGeom prst="rect">
            <a:avLst/>
          </a:prstGeom>
        </p:spPr>
      </p:pic>
      <p:sp>
        <p:nvSpPr>
          <p:cNvPr id="73" name="Text 52"/>
          <p:cNvSpPr/>
          <p:nvPr/>
        </p:nvSpPr>
        <p:spPr>
          <a:xfrm>
            <a:off x="621792" y="48463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Stack newsletter — beyondthestacknow.substack.com</a:t>
            </a:r>
            <a:endParaRPr lang="en-US" sz="850" dirty="0">
              <a:solidFill>
                <a:schemeClr val="bg1"/>
              </a:solidFill>
            </a:endParaRPr>
          </a:p>
        </p:txBody>
      </p:sp>
      <p:pic>
        <p:nvPicPr>
          <p:cNvPr id="74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6320" y="4846320"/>
            <a:ext cx="182880" cy="182880"/>
          </a:xfrm>
          <a:prstGeom prst="rect">
            <a:avLst/>
          </a:prstGeom>
        </p:spPr>
      </p:pic>
      <p:sp>
        <p:nvSpPr>
          <p:cNvPr id="75" name="Text 53"/>
          <p:cNvSpPr/>
          <p:nvPr/>
        </p:nvSpPr>
        <p:spPr>
          <a:xfrm>
            <a:off x="5084064" y="4846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@pradeepxgupta</a:t>
            </a:r>
            <a:endParaRPr lang="en-US" sz="850" dirty="0">
              <a:solidFill>
                <a:schemeClr val="bg1"/>
              </a:solidFill>
            </a:endParaRPr>
          </a:p>
        </p:txBody>
      </p:sp>
      <p:pic>
        <p:nvPicPr>
          <p:cNvPr id="76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3680" y="4846320"/>
            <a:ext cx="182880" cy="182880"/>
          </a:xfrm>
          <a:prstGeom prst="rect">
            <a:avLst/>
          </a:prstGeom>
        </p:spPr>
      </p:pic>
      <p:sp>
        <p:nvSpPr>
          <p:cNvPr id="77" name="Text 54"/>
          <p:cNvSpPr/>
          <p:nvPr/>
        </p:nvSpPr>
        <p:spPr>
          <a:xfrm>
            <a:off x="6821424" y="4846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linkedin.com/in/pradgupt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560320"/>
            <a:ext cx="4114800" cy="41148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0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🎉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2-minute feedback shapes our next sessions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664208"/>
            <a:ext cx="8138160" cy="0"/>
          </a:xfrm>
          <a:prstGeom prst="line">
            <a:avLst/>
          </a:prstGeom>
          <a:noFill/>
          <a:ln w="12700">
            <a:solidFill>
              <a:srgbClr val="009E8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0" y="1874520"/>
            <a:ext cx="5120640" cy="20848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1945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Session Feedback Survey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0" y="24231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QR Code Image Here]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377440"/>
            <a:ext cx="2560320" cy="804672"/>
          </a:xfrm>
          <a:prstGeom prst="rect">
            <a:avLst/>
          </a:prstGeom>
          <a:solidFill>
            <a:srgbClr val="1A2E4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237744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[QR]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194560" y="3273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[your-survey-link.com]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· takes &lt; 2 minutes · completely anonymous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Virtual Threads — Project Loom &amp; JDK 25  |  [Your Name]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1839</Words>
  <Application>Microsoft Office PowerPoint</Application>
  <PresentationFormat>On-screen Show (16:9)</PresentationFormat>
  <Paragraphs>296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Virtual Threads — Project Loom &amp; JDK 25</dc:title>
  <dc:subject>PptxGenJS Presentation</dc:subject>
  <dc:creator>PptxGenJS</dc:creator>
  <cp:lastModifiedBy>Pradeep Gupta</cp:lastModifiedBy>
  <cp:revision>8</cp:revision>
  <dcterms:created xsi:type="dcterms:W3CDTF">2026-05-16T17:17:56Z</dcterms:created>
  <dcterms:modified xsi:type="dcterms:W3CDTF">2026-05-17T14:19:15Z</dcterms:modified>
</cp:coreProperties>
</file>